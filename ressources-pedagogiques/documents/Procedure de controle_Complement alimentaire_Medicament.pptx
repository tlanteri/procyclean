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cee907c2c44c18" /><Relationship Type="http://schemas.openxmlformats.org/officeDocument/2006/relationships/extended-properties" Target="/docProps/app.xml" Id="R9aafc875717347f3" /><Relationship Type="http://schemas.openxmlformats.org/officeDocument/2006/relationships/officeDocument" Target="/ppt/presentation.xml" Id="Re77df963b2854a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ba42cc8573449d"/>
  </p:sldMasterIdLst>
  <p:notesMasterIdLst>
    <p:notesMasterId xmlns:r="http://schemas.openxmlformats.org/officeDocument/2006/relationships" r:id="Ra8859e6815e04be0"/>
  </p:notesMasterIdLst>
  <p:sldIdLst>
    <p:sldId xmlns:r="http://schemas.openxmlformats.org/officeDocument/2006/relationships" id="256" r:id="R19c6913235b54bd3"/>
    <p:sldId xmlns:r="http://schemas.openxmlformats.org/officeDocument/2006/relationships" id="257" r:id="Re963f103c85445f7"/>
    <p:sldId xmlns:r="http://schemas.openxmlformats.org/officeDocument/2006/relationships" id="258" r:id="R8af3fa1fc45d4434"/>
    <p:sldId xmlns:r="http://schemas.openxmlformats.org/officeDocument/2006/relationships" id="259" r:id="R335b4a118b6541ce"/>
    <p:sldId xmlns:r="http://schemas.openxmlformats.org/officeDocument/2006/relationships" id="260" r:id="R2b441422777546d5"/>
    <p:sldId xmlns:r="http://schemas.openxmlformats.org/officeDocument/2006/relationships" id="261" r:id="Rc2282fb142354b40"/>
    <p:sldId xmlns:r="http://schemas.openxmlformats.org/officeDocument/2006/relationships" id="262" r:id="Rb8a2b059803c4242"/>
    <p:sldId xmlns:r="http://schemas.openxmlformats.org/officeDocument/2006/relationships" id="263" r:id="R8c3d971c99d84596"/>
    <p:sldId xmlns:r="http://schemas.openxmlformats.org/officeDocument/2006/relationships" id="264" r:id="Rc7dbbd524f7a48ed"/>
    <p:sldId xmlns:r="http://schemas.openxmlformats.org/officeDocument/2006/relationships" id="265" r:id="R549d709f0c394ea5"/>
    <p:sldId xmlns:r="http://schemas.openxmlformats.org/officeDocument/2006/relationships" id="266" r:id="R76645b3530cd434a"/>
    <p:sldId xmlns:r="http://schemas.openxmlformats.org/officeDocument/2006/relationships" id="267" r:id="R3a8ec0705ed94a87"/>
    <p:sldId xmlns:r="http://schemas.openxmlformats.org/officeDocument/2006/relationships" id="268" r:id="R11797592eebb4fd1"/>
  </p:sldIdLst>
  <p:sldSz cx="13439775" cy="75596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7E752EBC-994D-63E6-C728-BFAD82913BE5}" name="Thomas LANTERI" initials="TL" userId="S::t.lanteri@ffc.fr::56e6f0b7-cc85-470a-b0a7-450ea04c585c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1520cf488f4a89" /><Relationship Type="http://schemas.openxmlformats.org/officeDocument/2006/relationships/slideMaster" Target="/ppt/slideMasters/slideMaster1.xml" Id="Rcfba42cc8573449d" /><Relationship Type="http://schemas.openxmlformats.org/officeDocument/2006/relationships/notesMaster" Target="/ppt/notesMasters/notesMaster1.xml" Id="Ra8859e6815e04be0" /><Relationship Type="http://schemas.openxmlformats.org/officeDocument/2006/relationships/presProps" Target="/ppt/presProps.xml" Id="R3f4a2bf444dd48c1" /><Relationship Type="http://schemas.openxmlformats.org/officeDocument/2006/relationships/viewProps" Target="/ppt/viewProps.xml" Id="Rb1b696976eb94d37" /><Relationship Type="http://schemas.openxmlformats.org/officeDocument/2006/relationships/tableStyles" Target="/ppt/tableStyles.xml" Id="R76ebc4aba3774f6f" /><Relationship Type="http://schemas.microsoft.com/office/2018/10/relationships/authors" Target="/ppt/authors.xml" Id="Rf76cd3e5ba284b55" /><Relationship Type="http://schemas.openxmlformats.org/officeDocument/2006/relationships/slide" Target="/ppt/slides/slide1.xml" Id="R19c6913235b54bd3" /><Relationship Type="http://schemas.openxmlformats.org/officeDocument/2006/relationships/slide" Target="/ppt/slides/slide2.xml" Id="Re963f103c85445f7" /><Relationship Type="http://schemas.openxmlformats.org/officeDocument/2006/relationships/slide" Target="/ppt/slides/slide3.xml" Id="R8af3fa1fc45d4434" /><Relationship Type="http://schemas.openxmlformats.org/officeDocument/2006/relationships/slide" Target="/ppt/slides/slide4.xml" Id="R335b4a118b6541ce" /><Relationship Type="http://schemas.openxmlformats.org/officeDocument/2006/relationships/slide" Target="/ppt/slides/slide5.xml" Id="R2b441422777546d5" /><Relationship Type="http://schemas.openxmlformats.org/officeDocument/2006/relationships/slide" Target="/ppt/slides/slide6.xml" Id="Rc2282fb142354b40" /><Relationship Type="http://schemas.openxmlformats.org/officeDocument/2006/relationships/slide" Target="/ppt/slides/slide7.xml" Id="Rb8a2b059803c4242" /><Relationship Type="http://schemas.openxmlformats.org/officeDocument/2006/relationships/slide" Target="/ppt/slides/slide8.xml" Id="R8c3d971c99d84596" /><Relationship Type="http://schemas.openxmlformats.org/officeDocument/2006/relationships/slide" Target="/ppt/slides/slide9.xml" Id="Rc7dbbd524f7a48ed" /><Relationship Type="http://schemas.openxmlformats.org/officeDocument/2006/relationships/slide" Target="/ppt/slides/slide10.xml" Id="R549d709f0c394ea5" /><Relationship Type="http://schemas.openxmlformats.org/officeDocument/2006/relationships/slide" Target="/ppt/slides/slide11.xml" Id="R76645b3530cd434a" /><Relationship Type="http://schemas.openxmlformats.org/officeDocument/2006/relationships/slide" Target="/ppt/slides/slide12.xml" Id="R3a8ec0705ed94a87" /><Relationship Type="http://schemas.openxmlformats.org/officeDocument/2006/relationships/slide" Target="/ppt/slides/slide13.xml" Id="R11797592eebb4f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43b2a428f4b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FFC 1">
      <a:dk1>
        <a:srgbClr val="002B5C"/>
      </a:dk1>
      <a:lt1>
        <a:srgbClr val="FFFFFF"/>
      </a:lt1>
      <a:dk2>
        <a:srgbClr val="014285"/>
      </a:dk2>
      <a:lt2>
        <a:srgbClr val="E7E6E6"/>
      </a:lt2>
      <a:accent1>
        <a:srgbClr val="D7313F"/>
      </a:accent1>
      <a:accent2>
        <a:srgbClr val="01599C"/>
      </a:accent2>
      <a:accent3>
        <a:srgbClr val="014285"/>
      </a:accent3>
      <a:accent4>
        <a:srgbClr val="FFC000"/>
      </a:accent4>
      <a:accent5>
        <a:srgbClr val="5B9BD5"/>
      </a:accent5>
      <a:accent6>
        <a:srgbClr val="70AD47"/>
      </a:accent6>
      <a:hlink>
        <a:srgbClr val="D7313F"/>
      </a:hlink>
      <a:folHlink>
        <a:srgbClr val="8A212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FC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b607be806e4840" /><Relationship Type="http://schemas.openxmlformats.org/officeDocument/2006/relationships/notesMaster" Target="/ppt/notesMasters/notesMaster1.xml" Id="R69ebd95e2e324d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104a82fd5c4dec" /><Relationship Type="http://schemas.openxmlformats.org/officeDocument/2006/relationships/notesMaster" Target="/ppt/notesMasters/notesMaster1.xml" Id="R79d3e97a24484d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27d35df12741b7" /><Relationship Type="http://schemas.openxmlformats.org/officeDocument/2006/relationships/notesMaster" Target="/ppt/notesMasters/notesMaster1.xml" Id="R8180000419c54e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273184819a4849" /><Relationship Type="http://schemas.openxmlformats.org/officeDocument/2006/relationships/notesMaster" Target="/ppt/notesMasters/notesMaster1.xml" Id="Rd43d45f3dade4f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41194a0684efc" /><Relationship Type="http://schemas.openxmlformats.org/officeDocument/2006/relationships/notesMaster" Target="/ppt/notesMasters/notesMaster1.xml" Id="Ra5155a944c5449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e11cf21fa9453c" /><Relationship Type="http://schemas.openxmlformats.org/officeDocument/2006/relationships/notesMaster" Target="/ppt/notesMasters/notesMaster1.xml" Id="R6822ddb9ab0545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1f4a45a94e471b" /><Relationship Type="http://schemas.openxmlformats.org/officeDocument/2006/relationships/notesMaster" Target="/ppt/notesMasters/notesMaster1.xml" Id="R9bd70cd7dcc44b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8e66a939884fa5" /><Relationship Type="http://schemas.openxmlformats.org/officeDocument/2006/relationships/notesMaster" Target="/ppt/notesMasters/notesMaster1.xml" Id="R7847b7c03d3c42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95fae4a5c9423d" /><Relationship Type="http://schemas.openxmlformats.org/officeDocument/2006/relationships/notesMaster" Target="/ppt/notesMasters/notesMaster1.xml" Id="R81914ff6fb5e4e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3ab7735de84172" /><Relationship Type="http://schemas.openxmlformats.org/officeDocument/2006/relationships/notesMaster" Target="/ppt/notesMasters/notesMaster1.xml" Id="R5f2cc06a6e2d42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9f2cbc8a0c4535" /><Relationship Type="http://schemas.openxmlformats.org/officeDocument/2006/relationships/notesMaster" Target="/ppt/notesMasters/notesMaster1.xml" Id="Rd0f40a55965c47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e6df1646e043ce" /><Relationship Type="http://schemas.openxmlformats.org/officeDocument/2006/relationships/notesMaster" Target="/ppt/notesMasters/notesMaster1.xml" Id="R3cf66d5e4fdc49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0dd1c1e755402e" /><Relationship Type="http://schemas.openxmlformats.org/officeDocument/2006/relationships/notesMaster" Target="/ppt/notesMasters/notesMaster1.xml" Id="R141ed631d5024a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Supports Webinaire 1, 2 et 3 fournis par l’utilisateur.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Supports Webinaire 2 et 3 fournis par l’utilisateur.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Support Webinaire 2 fourni par l’utilisateur, séquence « Complément alimentaire ».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Support Webinaire 2 fourni par l’utilisateur, synthèse « Ce que je dois retenir ».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Support Webinaire 2 fourni par l’utilisateur, séquence « Je suis malade, que dois-je faire ? ».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Support Webinaire 2 fourni par l’utilisateur, séquence « Les AUT : ce qu’il faut savoir ».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Synthèse des Supports Webinaire 2 et 3 fournis par l’utilisateur.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Activité créée à partir des critères et exceptions présentés dans le Support Webinaire 2 fourni par l’utilisateur.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Activité créée à partir des recommandations du Support Webinaire 2 fourni par l’utilisateur.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Activité créée à partir de la procédure décrite dans le Support Webinaire 3 fourni par l’utilisateur.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Support Webinaire 3 fourni par l’utilisateur, diapositive « Droits des sportifs / Responsabilités des sportifs ».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Support Webinaire 3 fourni par l’utilisateur, diapositive « La procédure de contrôle du dopage ».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Supports Webinaire 1, 2 et 3 fournis par l’utilisateur.</a:t>
            </a:r>
          </a:p>
          <a:p xmlns:a="http://schemas.openxmlformats.org/drawingml/2006/main">
            <a:pPr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4f7bc543b45fc" /><Relationship Type="http://schemas.openxmlformats.org/officeDocument/2006/relationships/image" Target="/ppt/media/image.jpeg" Id="R6648861eb8244f8f" /><Relationship Type="http://schemas.openxmlformats.org/officeDocument/2006/relationships/image" Target="/ppt/media/image.png" Id="R2b25b30bbb2b43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707085d7340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6edb604114892" /><Relationship Type="http://schemas.openxmlformats.org/officeDocument/2006/relationships/image" Target="/ppt/media/image2.jpeg" Id="R2897177b59f141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f6acb16f546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5335522134a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4cce9e8024b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719f373094dc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c7294d19c45b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4fa8a61444b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f9c1d5424466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0dd7156404c3a" /><Relationship Type="http://schemas.openxmlformats.org/officeDocument/2006/relationships/image" Target="/ppt/media/image.jpeg" Id="Ra07f866133644a35" /><Relationship Type="http://schemas.openxmlformats.org/officeDocument/2006/relationships/image" Target="/ppt/media/image.png" Id="Rd063cbdc61464c52" /></Relationships>
</file>

<file path=ppt/slideLayouts/slideLayout1.xml><?xml version="1.0" encoding="utf-8"?>
<p:sldLayout xmlns:p="http://schemas.openxmlformats.org/presentationml/2006/main" preserve="1" userDrawn="1">
  <p:cSld name="Page de gar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8861eb8244f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198"/>
            <a:ext cx="13439775" cy="7559873"/>
          </a:xfrm>
          <a:prstGeom xmlns:a="http://schemas.openxmlformats.org/drawingml/2006/main" prst="rect">
            <a:avLst/>
          </a:prstGeom>
        </p:spPr>
      </p:pic>
      <p:sp>
        <p:nvSpPr>
          <p:cNvPr id="10" name="Titre 4">
            <a:extLst xmlns:a="http://schemas.openxmlformats.org/drawingml/2006/main">
              <a:ext uri="{FF2B5EF4-FFF2-40B4-BE49-F238E27FC236}">
                <a16:creationId xmlns:a16="http://schemas.microsoft.com/office/drawing/2014/main" id="{2AAC34D7-69D9-42F1-BAD4-8D52CE3E36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679722" y="2693992"/>
            <a:ext cx="10079832" cy="2036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cap="all">
                <a:solidFill>
                  <a:schemeClr val="bg1"/>
                </a:solidFill>
                <a:latin typeface="Agency FB"/>
                <a:ea typeface="Agency FB"/>
                <a:cs typeface="Agency FB"/>
              </a:defRPr>
            </a:lvl1pPr>
          </a:lstStyle>
          <a:p xmlns:a="http://schemas.openxmlformats.org/drawingml/2006/main">
            <a:r>
              <a:t>Cliquer pour ajouter un titre</a:t>
            </a:r>
          </a:p>
        </p:txBody>
      </p:sp>
      <p:sp>
        <p:nvSpPr>
          <p:cNvPr id="14" name="Espace réservé du texte 8">
            <a:extLst xmlns:a="http://schemas.openxmlformats.org/drawingml/2006/main">
              <a:ext uri="{FF2B5EF4-FFF2-40B4-BE49-F238E27FC236}">
                <a16:creationId xmlns:a16="http://schemas.microsoft.com/office/drawing/2014/main" id="{E6BA5F68-94DB-46D7-9A5D-415610671CE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80225" y="4730750"/>
            <a:ext cx="1007933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bg1"/>
                </a:solidFill>
                <a:latin typeface="Agency FB"/>
                <a:ea typeface="Agency FB"/>
                <a:cs typeface="Agency FB"/>
              </a:defRPr>
            </a:lvl1pPr>
            <a:lvl2pPr algn="ctr"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algn="ctr"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algn="ctr"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algn="ctr"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Cliquer pour ajouter un sous-titre</a:t>
            </a:r>
          </a:p>
        </p:txBody>
      </p:sp>
      <p:pic>
        <p:nvPicPr>
          <p:cNvPr id="1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5b30bbb2b43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1947" y="5926690"/>
            <a:ext cx="1435880" cy="76919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E8A67D-5959-144A-87A1-EDB60A2FD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60" y="707404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TITRE DE LA PRÉSENTATION</a:t>
            </a:r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03B439-735F-824A-8C6A-D62A63C44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94968" y="7074039"/>
            <a:ext cx="3023949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92B71411-566D-F149-9C4A-28474C36E0E3}" type="slidenum">
              <a:t>‹N°›</a:t>
            </a:fld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797D38B-0949-456D-BE12-4A320C89DD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0860" y="581727"/>
            <a:ext cx="12798055" cy="9154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5028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Cliquer pour ajouter un titre</a:t>
            </a:r>
          </a:p>
        </p:txBody>
      </p:sp>
      <p:sp>
        <p:nvSpPr>
          <p:cNvPr id="8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8D001943-5404-4407-815B-779875CF22D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21282" y="1668026"/>
            <a:ext cx="12797219" cy="5235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 sz="2347"/>
            </a:lvl2pPr>
            <a:lvl3pPr>
              <a:buNone/>
              <a:defRPr sz="2011"/>
            </a:lvl3pPr>
            <a:lvl4pPr>
              <a:buNone/>
              <a:defRPr sz="1844"/>
            </a:lvl4pPr>
            <a:lvl5pPr>
              <a:buNone/>
              <a:defRPr sz="1676"/>
            </a:lvl5pPr>
          </a:lstStyle>
          <a:p xmlns:a="http://schemas.openxmlformats.org/drawingml/2006/main">
            <a:pPr>
              <a:buNone/>
            </a:pPr>
            <a:r>
              <a:t>Cliquer pour ajouter du texte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tercalai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7177b59f141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00"/>
            <a:ext cx="13439775" cy="7559873"/>
          </a:xfrm>
          <a:prstGeom xmlns:a="http://schemas.openxmlformats.org/drawingml/2006/main" prst="rect">
            <a:avLst/>
          </a:prstGeom>
        </p:spPr>
      </p:pic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E8A67D-5959-144A-87A1-EDB60A2FD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60" y="7052557"/>
            <a:ext cx="4535924" cy="4024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TITRE DE LA PRÉSENTATION</a:t>
            </a:r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03B439-735F-824A-8C6A-D62A63C44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94968" y="7028739"/>
            <a:ext cx="3023949" cy="4024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92B71411-566D-F149-9C4A-28474C36E0E3}" type="slidenum">
              <a:t>‹N°›</a:t>
            </a:fld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76046458-7A98-43D3-A56F-5986E86E420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102779" y="2898373"/>
            <a:ext cx="9269476" cy="17629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cap="all">
                <a:solidFill>
                  <a:schemeClr val="bg1"/>
                </a:solidFill>
                <a:latin typeface="Agency FB"/>
                <a:ea typeface="Agency FB"/>
                <a:cs typeface="Agency FB"/>
              </a:defRPr>
            </a:lvl1pPr>
          </a:lstStyle>
          <a:p xmlns:a="http://schemas.openxmlformats.org/drawingml/2006/main">
            <a:r>
              <a:t>AJOUTER UN TITRE</a:t>
            </a:r>
          </a:p>
        </p:txBody>
      </p:sp>
      <p:sp>
        <p:nvSpPr>
          <p:cNvPr id="10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7ED4454C-B2CC-448F-957C-9EC67076219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208039" y="1495885"/>
            <a:ext cx="1023697" cy="842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2011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Ajouter une image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re +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E8A67D-5959-144A-87A1-EDB60A2FD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60" y="707404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TITRE DE LA PRÉSENTATION</a:t>
            </a:r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03B439-735F-824A-8C6A-D62A63C44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94968" y="7074039"/>
            <a:ext cx="3023949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92B71411-566D-F149-9C4A-28474C36E0E3}" type="slidenum">
              <a:t>‹N°›</a:t>
            </a:fld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797D38B-0949-456D-BE12-4A320C89DD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0860" y="581727"/>
            <a:ext cx="12798055" cy="9154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5028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Cliquer pour ajouter un titre</a:t>
            </a:r>
          </a:p>
        </p:txBody>
      </p:sp>
      <p:sp>
        <p:nvSpPr>
          <p:cNvPr id="6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C69DE667-ECA5-44BF-8E36-71DE86C73D4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20862" y="1668026"/>
            <a:ext cx="12798056" cy="5235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re +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E8A67D-5959-144A-87A1-EDB60A2FD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60" y="707404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TITRE DE LA PRÉSENTATION</a:t>
            </a:r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03B439-735F-824A-8C6A-D62A63C44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94968" y="7074039"/>
            <a:ext cx="3023949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92B71411-566D-F149-9C4A-28474C36E0E3}" type="slidenum">
              <a:t>‹N°›</a:t>
            </a:fld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797D38B-0949-456D-BE12-4A320C89DD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0860" y="581727"/>
            <a:ext cx="12798055" cy="9154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5028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Cliquer pour ajouter un titre</a:t>
            </a:r>
          </a:p>
        </p:txBody>
      </p:sp>
      <p:sp>
        <p:nvSpPr>
          <p:cNvPr id="7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57FA0D56-F197-46F3-99D5-6ED82B0782B1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20860" y="1914706"/>
            <a:ext cx="6303725" cy="22565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  <p:sp>
        <p:nvSpPr>
          <p:cNvPr id="8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E17FEB83-BCDE-43F9-9881-6EC84CF7F092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320860" y="4313772"/>
            <a:ext cx="6303725" cy="2342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  <p:sp>
        <p:nvSpPr>
          <p:cNvPr id="9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148A5EAD-327B-4229-8303-1C5366BA764D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815190" y="1914706"/>
            <a:ext cx="6303725" cy="22565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  <p:sp>
        <p:nvSpPr>
          <p:cNvPr id="10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906039BD-4818-4A15-AFD7-F5F2AB3F25C5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6815190" y="4313776"/>
            <a:ext cx="6303725" cy="23426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re +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E8A67D-5959-144A-87A1-EDB60A2FD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60" y="707404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TITRE DE LA PRÉSENTATION</a:t>
            </a:r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03B439-735F-824A-8C6A-D62A63C44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94968" y="7074039"/>
            <a:ext cx="3023949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92B71411-566D-F149-9C4A-28474C36E0E3}" type="slidenum">
              <a:t>‹N°›</a:t>
            </a:fld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797D38B-0949-456D-BE12-4A320C89DD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0860" y="581727"/>
            <a:ext cx="12798055" cy="9154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5028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Cliquer pour ajouter un titre</a:t>
            </a:r>
          </a:p>
        </p:txBody>
      </p:sp>
      <p:sp>
        <p:nvSpPr>
          <p:cNvPr id="11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B6D634F3-A9C3-4C2D-AFED-2D78A0E5B4D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21279" y="1657978"/>
            <a:ext cx="6293750" cy="5319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 sz="2347"/>
            </a:lvl2pPr>
            <a:lvl3pPr>
              <a:buNone/>
              <a:defRPr sz="2011"/>
            </a:lvl3pPr>
            <a:lvl4pPr>
              <a:buNone/>
              <a:defRPr sz="1844"/>
            </a:lvl4pPr>
            <a:lvl5pPr>
              <a:buNone/>
              <a:defRPr sz="1676"/>
            </a:lvl5pPr>
          </a:lstStyle>
          <a:p xmlns:a="http://schemas.openxmlformats.org/drawingml/2006/main">
            <a:pPr>
              <a:buNone/>
            </a:pPr>
            <a:r>
              <a:t>Cliquer pour ajouter du texte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  <p:sp>
        <p:nvSpPr>
          <p:cNvPr id="12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6AC4EF57-AD2A-4BF7-93E4-20FB03965157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824748" y="1658132"/>
            <a:ext cx="6294169" cy="53170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 sz="2347"/>
            </a:lvl2pPr>
            <a:lvl3pPr>
              <a:buNone/>
              <a:defRPr sz="2011"/>
            </a:lvl3pPr>
            <a:lvl4pPr>
              <a:buNone/>
              <a:defRPr sz="1844"/>
            </a:lvl4pPr>
            <a:lvl5pPr>
              <a:buNone/>
              <a:defRPr sz="1676"/>
            </a:lvl5pPr>
          </a:lstStyle>
          <a:p xmlns:a="http://schemas.openxmlformats.org/drawingml/2006/main">
            <a:pPr>
              <a:buNone/>
            </a:pPr>
            <a:r>
              <a:t>Cliquer pour ajouter du texte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re +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E8A67D-5959-144A-87A1-EDB60A2FD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60" y="707404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TITRE DE LA PRÉSENTATION</a:t>
            </a:r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03B439-735F-824A-8C6A-D62A63C44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94968" y="7074039"/>
            <a:ext cx="3023949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92B71411-566D-F149-9C4A-28474C36E0E3}" type="slidenum">
              <a:t>‹N°›</a:t>
            </a:fld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797D38B-0949-456D-BE12-4A320C89DD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0860" y="581727"/>
            <a:ext cx="12798055" cy="9154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5028"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Cliquer pour ajouter un titre</a:t>
            </a:r>
          </a:p>
        </p:txBody>
      </p:sp>
      <p:sp>
        <p:nvSpPr>
          <p:cNvPr id="7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CC4C9DF0-F492-4A92-B5D1-041C5B838E1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20861" y="1668027"/>
            <a:ext cx="6293749" cy="26125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  <p:sp>
        <p:nvSpPr>
          <p:cNvPr id="8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90E1C34C-84E8-4217-96E0-65646379FA6E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320861" y="4290646"/>
            <a:ext cx="6293749" cy="26125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  <p:sp>
        <p:nvSpPr>
          <p:cNvPr id="9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E0FCA2DB-D41F-468D-849F-C89C027954D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824748" y="1668026"/>
            <a:ext cx="6294169" cy="5235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 sz="2347"/>
            </a:lvl2pPr>
            <a:lvl3pPr>
              <a:buNone/>
              <a:defRPr sz="2011"/>
            </a:lvl3pPr>
            <a:lvl4pPr>
              <a:buNone/>
              <a:defRPr sz="1844"/>
            </a:lvl4pPr>
            <a:lvl5pPr>
              <a:buNone/>
              <a:defRPr sz="1676"/>
            </a:lvl5pPr>
          </a:lstStyle>
          <a:p xmlns:a="http://schemas.openxmlformats.org/drawingml/2006/main">
            <a:pPr>
              <a:buNone/>
            </a:pPr>
            <a:r>
              <a:t>Cliquer pour ajouter du texte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re +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E8A67D-5959-144A-87A1-EDB60A2FD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60" y="707404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TITRE DE LA PRÉSENTATION</a:t>
            </a:r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03B439-735F-824A-8C6A-D62A63C44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94968" y="7074039"/>
            <a:ext cx="3023949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92B71411-566D-F149-9C4A-28474C36E0E3}" type="slidenum">
              <a:t>‹N°›</a:t>
            </a:fld>
          </a:p>
        </p:txBody>
      </p:sp>
      <p:sp>
        <p:nvSpPr>
          <p:cNvPr id="10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2DCDA6B1-98C9-40E3-B355-4C01FA1C8CE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" y="599768"/>
            <a:ext cx="13439775" cy="638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6_Titre +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E8A67D-5959-144A-87A1-EDB60A2FD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60" y="707404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TITRE DE LA PRÉSENTATION</a:t>
            </a:r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03B439-735F-824A-8C6A-D62A63C44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94968" y="7074039"/>
            <a:ext cx="3023949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92B71411-566D-F149-9C4A-28474C36E0E3}" type="slidenum">
              <a:t>‹N°›</a:t>
            </a:fld>
          </a:p>
        </p:txBody>
      </p:sp>
      <p:sp>
        <p:nvSpPr>
          <p:cNvPr id="5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A9B9F9E6-9D58-4FE7-9604-EDA957D921C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599773"/>
            <a:ext cx="6724850" cy="3200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  <p:sp>
        <p:nvSpPr>
          <p:cNvPr id="6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5DC649BF-7804-432D-8391-2F6C39C4C443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755120" y="599773"/>
            <a:ext cx="6674733" cy="3200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  <p:sp>
        <p:nvSpPr>
          <p:cNvPr id="7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1072509A-5C58-4F48-A7EA-3DA6DE578986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755120" y="3799934"/>
            <a:ext cx="6674733" cy="31901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  <p:sp>
        <p:nvSpPr>
          <p:cNvPr id="8" name="Espace réservé pour une image  3">
            <a:extLst xmlns:a="http://schemas.openxmlformats.org/drawingml/2006/main">
              <a:ext uri="{FF2B5EF4-FFF2-40B4-BE49-F238E27FC236}">
                <a16:creationId xmlns:a16="http://schemas.microsoft.com/office/drawing/2014/main" id="{E7AF7E4A-64FC-4103-8957-5B2CD78A649A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4962" y="3799932"/>
            <a:ext cx="6719888" cy="31838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Cliquer pour ajouter une image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7_Titre +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E8A67D-5959-144A-87A1-EDB60A2FDE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60" y="707404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TITRE DE LA PRÉSENTATION</a:t>
            </a:r>
          </a:p>
        </p:txBody>
      </p:sp>
      <p:sp>
        <p:nvSpPr>
          <p:cNvPr id="2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03B439-735F-824A-8C6A-D62A63C44D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094968" y="7074039"/>
            <a:ext cx="3023949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92B71411-566D-F149-9C4A-28474C36E0E3}" type="slidenum">
              <a:t>‹N°›</a:t>
            </a:fld>
          </a:p>
        </p:txBody>
      </p:sp>
      <p:sp>
        <p:nvSpPr>
          <p:cNvPr id="5" name="Espace réservé de l'élément multimédia 2">
            <a:extLst xmlns:a="http://schemas.openxmlformats.org/drawingml/2006/main">
              <a:ext uri="{FF2B5EF4-FFF2-40B4-BE49-F238E27FC236}">
                <a16:creationId xmlns:a16="http://schemas.microsoft.com/office/drawing/2014/main" id="{6A24894D-9186-4DE9-81BA-680E74A4D2FA}"/>
              </a:ext>
            </a:extLst>
          </p:cNvPr>
          <p:cNvSpPr>
            <a:spLocks xmlns:a="http://schemas.openxmlformats.org/drawingml/2006/main" noGrp="1"/>
          </p:cNvSpPr>
          <p:nvPr>
            <p:ph type="media" idx="14" hasCustomPrompt="1"/>
          </p:nvPr>
        </p:nvSpPr>
        <p:spPr>
          <a:xfrm xmlns:a="http://schemas.openxmlformats.org/drawingml/2006/main">
            <a:off x="2" y="608015"/>
            <a:ext cx="13439774" cy="63515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352"/>
            </a:lvl1pPr>
          </a:lstStyle>
          <a:p xmlns:a="http://schemas.openxmlformats.org/drawingml/2006/main">
            <a:r>
              <a:t>Cliquer pour ajouter une vidéo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Page de fi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f866133644a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4925"/>
            <a:ext cx="13439775" cy="7554750"/>
          </a:xfrm>
          <a:prstGeom xmlns:a="http://schemas.openxmlformats.org/drawingml/2006/main" prst="rect">
            <a:avLst/>
          </a:prstGeom>
        </p:spPr>
      </p:pic>
      <p:sp>
        <p:nvSpPr>
          <p:cNvPr id="14" name="Espace réservé du texte 8">
            <a:extLst xmlns:a="http://schemas.openxmlformats.org/drawingml/2006/main">
              <a:ext uri="{FF2B5EF4-FFF2-40B4-BE49-F238E27FC236}">
                <a16:creationId xmlns:a16="http://schemas.microsoft.com/office/drawing/2014/main" id="{E6BA5F68-94DB-46D7-9A5D-415610671CE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435153" y="3519948"/>
            <a:ext cx="6636944" cy="17251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algn="ctr"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algn="ctr"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algn="ctr"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algn="ctr">
              <a:buNone/>
              <a:defRPr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Cliquer pour ajouter les informations de contact</a:t>
            </a:r>
          </a:p>
        </p:txBody>
      </p:sp>
      <p:pic>
        <p:nvPicPr>
          <p:cNvPr id="1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3cbdc61464c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1947" y="5926690"/>
            <a:ext cx="1435880" cy="769191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eb21a9ae36c741df" /><Relationship Type="http://schemas.openxmlformats.org/officeDocument/2006/relationships/theme" Target="/ppt/slideMasters/theme/theme2.xml" Id="R7792dd7d88db44ec" /><Relationship Type="http://schemas.openxmlformats.org/officeDocument/2006/relationships/slideLayout" Target="/ppt/slideLayouts/slideLayout1.xml" Id="R15e0baa9aa3847c7" /><Relationship Type="http://schemas.openxmlformats.org/officeDocument/2006/relationships/slideLayout" Target="/ppt/slideLayouts/slideLayout2.xml" Id="Rff8cbf61d2ba407d" /><Relationship Type="http://schemas.openxmlformats.org/officeDocument/2006/relationships/slideLayout" Target="/ppt/slideLayouts/slideLayout3.xml" Id="R35fcee80daac43bb" /><Relationship Type="http://schemas.openxmlformats.org/officeDocument/2006/relationships/slideLayout" Target="/ppt/slideLayouts/slideLayout4.xml" Id="R83f8cfe606a64753" /><Relationship Type="http://schemas.openxmlformats.org/officeDocument/2006/relationships/slideLayout" Target="/ppt/slideLayouts/slideLayout5.xml" Id="R7e95f924b13e448c" /><Relationship Type="http://schemas.openxmlformats.org/officeDocument/2006/relationships/slideLayout" Target="/ppt/slideLayouts/slideLayout6.xml" Id="Rb91e286c8a40434e" /><Relationship Type="http://schemas.openxmlformats.org/officeDocument/2006/relationships/slideLayout" Target="/ppt/slideLayouts/slideLayout7.xml" Id="Rf2fc9d4963ca4569" /><Relationship Type="http://schemas.openxmlformats.org/officeDocument/2006/relationships/slideLayout" Target="/ppt/slideLayouts/slideLayout8.xml" Id="Rf421e5abe22a470f" /><Relationship Type="http://schemas.openxmlformats.org/officeDocument/2006/relationships/slideLayout" Target="/ppt/slideLayouts/slideLayout9.xml" Id="R0e32bf0afd8c4f9d" /><Relationship Type="http://schemas.openxmlformats.org/officeDocument/2006/relationships/slideLayout" Target="/ppt/slideLayouts/slideLayout10.xml" Id="R24ee8f5f7c884232" /><Relationship Type="http://schemas.openxmlformats.org/officeDocument/2006/relationships/slideLayout" Target="/ppt/slideLayouts/slideLayout11.xml" Id="R37a102897f584d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1a9ae36c741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98"/>
            <a:ext cx="13439776" cy="7559873"/>
          </a:xfrm>
          <a:prstGeom xmlns:a="http://schemas.openxmlformats.org/drawingml/2006/main" prst="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ABEDFC5-4555-204B-80E1-FF13EAFA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09600"/>
            <a:ext cx="13439775" cy="6339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EAD73B-7127-4358-B9C8-0FF7B430D11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094968" y="7063990"/>
            <a:ext cx="3023949" cy="4901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r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fld id="{92B71411-566D-F149-9C4A-28474C36E0E3}" type="slidenum">
              <a:t>‹N°›</a:t>
            </a:fld>
          </a:p>
        </p:txBody>
      </p:sp>
      <p:graphicFrame>
        <p:nvGraphicFramePr>
          <p:cNvPr id="17" name="Tableau 9"/>
          <p:cNvGraphicFramePr/>
          <p:nvPr/>
        </p:nvGraphicFramePr>
        <p:xfrm>
          <a:off xmlns:a="http://schemas.openxmlformats.org/drawingml/2006/main" x="321279" y="4212749"/>
          <a:ext xmlns:a="http://schemas.openxmlformats.org/drawingml/2006/main" cx="12797218" cy="3962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98609"/>
                <a:gridCol w="6398609"/>
              </a:tblGrid>
              <a:tr h="393827">
                <a:tc>
                  <a:txBody>
                    <a:bodyPr/>
                    <a:lstStyle/>
                    <a:p/>
                  </a:txBody>
                  <a:tcPr marL="114942" marR="114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114942" marR="114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6F4468-C552-4D83-A786-B310F0F77B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20860" y="7063989"/>
            <a:ext cx="4535924" cy="490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TITRE DE LA PRÉSENTATION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35B1A1-E0C6-455C-89AD-5DD59956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2563"/>
            <a:ext cx="13430668" cy="65314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0baa9aa3847c7"/>
    <p:sldLayoutId xmlns:r="http://schemas.openxmlformats.org/officeDocument/2006/relationships" id="2147483650" r:id="Rff8cbf61d2ba407d"/>
    <p:sldLayoutId xmlns:r="http://schemas.openxmlformats.org/officeDocument/2006/relationships" id="2147483651" r:id="R35fcee80daac43bb"/>
    <p:sldLayoutId xmlns:r="http://schemas.openxmlformats.org/officeDocument/2006/relationships" id="2147483652" r:id="R83f8cfe606a64753"/>
    <p:sldLayoutId xmlns:r="http://schemas.openxmlformats.org/officeDocument/2006/relationships" id="2147483653" r:id="R7e95f924b13e448c"/>
    <p:sldLayoutId xmlns:r="http://schemas.openxmlformats.org/officeDocument/2006/relationships" id="2147483654" r:id="Rb91e286c8a40434e"/>
    <p:sldLayoutId xmlns:r="http://schemas.openxmlformats.org/officeDocument/2006/relationships" id="2147483655" r:id="Rf2fc9d4963ca4569"/>
    <p:sldLayoutId xmlns:r="http://schemas.openxmlformats.org/officeDocument/2006/relationships" id="2147483656" r:id="Rf421e5abe22a470f"/>
    <p:sldLayoutId xmlns:r="http://schemas.openxmlformats.org/officeDocument/2006/relationships" id="2147483657" r:id="R0e32bf0afd8c4f9d"/>
    <p:sldLayoutId xmlns:r="http://schemas.openxmlformats.org/officeDocument/2006/relationships" id="2147483658" r:id="R24ee8f5f7c884232"/>
    <p:sldLayoutId xmlns:r="http://schemas.openxmlformats.org/officeDocument/2006/relationships" id="2147483659" r:id="R37a102897f584d28"/>
  </p:sldLayoutIdLst>
  <p:hf hdr="0" dt="0"/>
  <p:txStyles>
    <p:titleStyle>
      <a:lvl1pPr xmlns:a="http://schemas.openxmlformats.org/drawingml/2006/main" algn="ctr">
        <a:lnSpc>
          <a:spcPct val="75000"/>
        </a:lnSpc>
        <a:buNone/>
        <a:defRPr sz="5028" b="1" i="0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xmlns:a="http://schemas.openxmlformats.org/drawingml/2006/main" marL="0" indent="0" algn="l">
        <a:lnSpc>
          <a:spcPct val="90000"/>
        </a:lnSpc>
        <a:spcBef>
          <a:spcPts val="1847"/>
        </a:spcBef>
        <a:buNone/>
        <a:defRPr sz="2681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marL="1267047" indent="-422349" algn="l">
        <a:lnSpc>
          <a:spcPct val="90000"/>
        </a:lnSpc>
        <a:spcBef>
          <a:spcPts val="924"/>
        </a:spcBef>
        <a:buChar char="•"/>
        <a:defRPr sz="4435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111747" indent="-422349" algn="l">
        <a:lnSpc>
          <a:spcPct val="90000"/>
        </a:lnSpc>
        <a:spcBef>
          <a:spcPts val="924"/>
        </a:spcBef>
        <a:buChar char="•"/>
        <a:defRPr sz="3696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956444" indent="-422349" algn="l">
        <a:lnSpc>
          <a:spcPct val="90000"/>
        </a:lnSpc>
        <a:spcBef>
          <a:spcPts val="924"/>
        </a:spcBef>
        <a:buChar char="•"/>
        <a:defRPr sz="3325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3801143" indent="-422349" algn="l">
        <a:lnSpc>
          <a:spcPct val="90000"/>
        </a:lnSpc>
        <a:spcBef>
          <a:spcPts val="924"/>
        </a:spcBef>
        <a:buChar char="•"/>
        <a:defRPr sz="3325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4645843" indent="-422349" algn="l">
        <a:lnSpc>
          <a:spcPct val="90000"/>
        </a:lnSpc>
        <a:spcBef>
          <a:spcPts val="924"/>
        </a:spcBef>
        <a:buChar char="•"/>
        <a:defRPr sz="3325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5490540" indent="-422349" algn="l">
        <a:lnSpc>
          <a:spcPct val="90000"/>
        </a:lnSpc>
        <a:spcBef>
          <a:spcPts val="924"/>
        </a:spcBef>
        <a:buChar char="•"/>
        <a:defRPr sz="3325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6335239" indent="-422349" algn="l">
        <a:lnSpc>
          <a:spcPct val="90000"/>
        </a:lnSpc>
        <a:spcBef>
          <a:spcPts val="924"/>
        </a:spcBef>
        <a:buChar char="•"/>
        <a:defRPr sz="3325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7179938" indent="-422349" algn="l">
        <a:lnSpc>
          <a:spcPct val="90000"/>
        </a:lnSpc>
        <a:spcBef>
          <a:spcPts val="924"/>
        </a:spcBef>
        <a:buChar char="•"/>
        <a:defRPr sz="332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3325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44700" algn="l">
        <a:buNone/>
        <a:defRPr sz="3325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689396" algn="l">
        <a:buNone/>
        <a:defRPr sz="3325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34096" algn="l">
        <a:buNone/>
        <a:defRPr sz="3325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3378794" algn="l">
        <a:buNone/>
        <a:defRPr sz="3325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4223494" algn="l">
        <a:buNone/>
        <a:defRPr sz="3325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5068191" algn="l">
        <a:buNone/>
        <a:defRPr sz="3325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5912890" algn="l">
        <a:buNone/>
        <a:defRPr sz="3325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6757587" algn="l">
        <a:buNone/>
        <a:defRPr sz="332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FFC 1">
      <a:dk1>
        <a:srgbClr val="002B5C"/>
      </a:dk1>
      <a:lt1>
        <a:srgbClr val="FFFFFF"/>
      </a:lt1>
      <a:dk2>
        <a:srgbClr val="014285"/>
      </a:dk2>
      <a:lt2>
        <a:srgbClr val="E7E6E6"/>
      </a:lt2>
      <a:accent1>
        <a:srgbClr val="D7313F"/>
      </a:accent1>
      <a:accent2>
        <a:srgbClr val="01599C"/>
      </a:accent2>
      <a:accent3>
        <a:srgbClr val="014285"/>
      </a:accent3>
      <a:accent4>
        <a:srgbClr val="FFC000"/>
      </a:accent4>
      <a:accent5>
        <a:srgbClr val="5B9BD5"/>
      </a:accent5>
      <a:accent6>
        <a:srgbClr val="70AD47"/>
      </a:accent6>
      <a:hlink>
        <a:srgbClr val="D7313F"/>
      </a:hlink>
      <a:folHlink>
        <a:srgbClr val="8A212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FC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5d27b0a4c4133" /><Relationship Type="http://schemas.openxmlformats.org/officeDocument/2006/relationships/notesSlide" Target="/ppt/notesSlides/notesSlide1.xml" Id="R3bf533d24a3143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16baabc07349d1" /><Relationship Type="http://schemas.openxmlformats.org/officeDocument/2006/relationships/image" Target="/ppt/media/image2.png" Id="R2db4bf8cfb544247" /><Relationship Type="http://schemas.openxmlformats.org/officeDocument/2006/relationships/notesSlide" Target="/ppt/notesSlides/notesSlide2.xml" Id="R8e20364131574e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1bf91a93994235" /><Relationship Type="http://schemas.openxmlformats.org/officeDocument/2006/relationships/image" Target="/ppt/media/image2.png" Id="R5af9eedad5e34dc2" /><Relationship Type="http://schemas.openxmlformats.org/officeDocument/2006/relationships/notesSlide" Target="/ppt/notesSlides/notesSlide3.xml" Id="Ra2777752e91e49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273c952ede4281" /><Relationship Type="http://schemas.openxmlformats.org/officeDocument/2006/relationships/image" Target="/ppt/media/image2.png" Id="R469700787e094c0f" /><Relationship Type="http://schemas.openxmlformats.org/officeDocument/2006/relationships/notesSlide" Target="/ppt/notesSlides/notesSlide4.xml" Id="Re3a5108e091b42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d923d79234746" /><Relationship Type="http://schemas.openxmlformats.org/officeDocument/2006/relationships/image" Target="/ppt/media/image2.png" Id="R943cbedc7fa94308" /><Relationship Type="http://schemas.openxmlformats.org/officeDocument/2006/relationships/notesSlide" Target="/ppt/notesSlides/notesSlide5.xml" Id="R151f5d2434804b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4aebe552449c6" /><Relationship Type="http://schemas.openxmlformats.org/officeDocument/2006/relationships/image" Target="/ppt/media/image2.png" Id="R1979af58ffde462f" /><Relationship Type="http://schemas.openxmlformats.org/officeDocument/2006/relationships/notesSlide" Target="/ppt/notesSlides/notesSlide6.xml" Id="Rd80a22a18c3d4b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b496f37ecc4778" /><Relationship Type="http://schemas.openxmlformats.org/officeDocument/2006/relationships/image" Target="/ppt/media/image2.png" Id="Ra8a9fd6c596a47f0" /><Relationship Type="http://schemas.openxmlformats.org/officeDocument/2006/relationships/notesSlide" Target="/ppt/notesSlides/notesSlide7.xml" Id="R4eb185c7eb6448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10ee95cb224d1c" /><Relationship Type="http://schemas.openxmlformats.org/officeDocument/2006/relationships/image" Target="/ppt/media/image2.png" Id="R731f4a43760341f0" /><Relationship Type="http://schemas.openxmlformats.org/officeDocument/2006/relationships/notesSlide" Target="/ppt/notesSlides/notesSlide8.xml" Id="R4598e017b7b840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1485ee198541d2" /><Relationship Type="http://schemas.openxmlformats.org/officeDocument/2006/relationships/image" Target="/ppt/media/image2.png" Id="Rd0fa31a249db4c1f" /><Relationship Type="http://schemas.openxmlformats.org/officeDocument/2006/relationships/notesSlide" Target="/ppt/notesSlides/notesSlide9.xml" Id="Rccda059b038d40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16d12ec569403c" /><Relationship Type="http://schemas.openxmlformats.org/officeDocument/2006/relationships/image" Target="/ppt/media/image2.png" Id="Rd01c56b4d0234259" /><Relationship Type="http://schemas.openxmlformats.org/officeDocument/2006/relationships/notesSlide" Target="/ppt/notesSlides/notesSlide10.xml" Id="Ref56c9b0c9a64e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a46eff9d0b479b" /><Relationship Type="http://schemas.openxmlformats.org/officeDocument/2006/relationships/image" Target="/ppt/media/image2.png" Id="R986933151d1043db" /><Relationship Type="http://schemas.openxmlformats.org/officeDocument/2006/relationships/notesSlide" Target="/ppt/notesSlides/notesSlide11.xml" Id="Ra28f5a6cbb4843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32a6bc154e43a0" /><Relationship Type="http://schemas.openxmlformats.org/officeDocument/2006/relationships/image" Target="/ppt/media/image2.png" Id="R7284c51d47dd4002" /><Relationship Type="http://schemas.openxmlformats.org/officeDocument/2006/relationships/notesSlide" Target="/ppt/notesSlides/notesSlide12.xml" Id="Ra735cb6c62f246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c14be6d4354b6f" /><Relationship Type="http://schemas.openxmlformats.org/officeDocument/2006/relationships/image" Target="/ppt/media/image2.png" Id="R2277681ea06847a7" /><Relationship Type="http://schemas.openxmlformats.org/officeDocument/2006/relationships/notesSlide" Target="/ppt/notesSlides/notesSlide13.xml" Id="R046e0e8d994a4e4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209504AD-E5B0-4E18-A890-B23DF4943D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ANTIDOPAGE : LES BONS RÉFLEXES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8B0F6D75-16AB-4E0C-B649-9DDAA6D1A79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Contrôle antidopage • Compléments alimentaires • Médicaments et AUT</a:t>
            </a:r>
          </a:p>
        </p:txBody>
      </p:sp>
    </p:spTree>
    <p:extLst>
      <p:ext uri="{BB962C8B-B14F-4D97-AF65-F5344CB8AC3E}">
        <p14:creationId xmlns:p14="http://schemas.microsoft.com/office/powerpoint/2010/main" val="16563160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BC58B6FD-E88F-6DFB-FDB2-BC70A77974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577278A3-067F-1D5C-F384-CB36A08F4E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2</a:t>
            </a:fld>
          </a:p>
        </p:txBody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4bf8cfb544247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7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B7ABA13E-2AA3-86E1-864D-C5BC4981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Introduction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8C66D-23A8-488C-8DFF-182F3D27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INTRODUCTION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BB0CE-433D-4C18-B44E-BF518BA7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Trois situations, un même réflexe : vérifier avant d’agir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C8E49-6D79-486D-918C-DE352E5A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3857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60DE1-8616-4D0A-A7BD-D0627F7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3D01A-1D8B-402C-851C-8CD6C66D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5E5D07-88BD-47BA-BCBC-788AFE6F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55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B55"/>
                </a:solidFill>
              </a:defRPr>
            </a:pPr>
            <a:r>
              <a:rPr sz="1875" b="1">
                <a:solidFill>
                  <a:srgbClr val="082B55"/>
                </a:solidFill>
              </a:rPr>
              <a:t>CONTRÔLE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DEC4D-B246-4C55-86B4-25F2C577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3286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Comprendre les étapes, ses droits et ses responsabilités.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798786-7EFC-4C64-8893-5F2FABAE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3857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BA7B0-9BA1-452E-A436-FC040E6D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52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1DA7C-A6CF-4DAA-918E-BBA1708C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52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F6044-A3BC-415B-8B6E-92C45C23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55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B55"/>
                </a:solidFill>
              </a:defRPr>
            </a:pPr>
            <a:r>
              <a:rPr sz="1875" b="1">
                <a:solidFill>
                  <a:srgbClr val="082B55"/>
                </a:solidFill>
              </a:rPr>
              <a:t>COMPLÉMENTS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1FF5C9-733F-40BE-9528-B01005FD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3286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Identifier les risques et adopter une démarche de prudence.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33935B-428B-45EF-86E5-702B1E90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3857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CE5E6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72DB9-37A8-4B6D-ADF0-159AEBD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52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13B"/>
          </a:solidFill>
          <a:ln xmlns:a="http://schemas.openxmlformats.org/drawingml/2006/main" w="0">
            <a:solidFill>
              <a:srgbClr val="E431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8AEB37-C096-4A32-AF75-3CECBF0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52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A8BD36-9E54-48C1-B24D-BF34E512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955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B55"/>
                </a:solidFill>
              </a:defRPr>
            </a:pPr>
            <a:r>
              <a:rPr sz="1875" b="1">
                <a:solidFill>
                  <a:srgbClr val="082B55"/>
                </a:solidFill>
              </a:rPr>
              <a:t>MÉDICAMENTS / AUT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B6C49B-7B78-4478-8732-45CBBB31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76550"/>
            <a:ext cx="3286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Vérifier un traitement et savoir quand demander une AUT.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A984AB-6730-41DA-AB42-C27D8874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À chaque étape : une mini-activité pour passer de la connaissance au bon réflexe.</a:t>
            </a:r>
          </a:p>
        </p:txBody>
      </p:sp>
    </p:spTree>
    <p:extLst>
      <p:ext uri="{BB962C8B-B14F-4D97-AF65-F5344CB8AC3E}">
        <p14:creationId xmlns:p14="http://schemas.microsoft.com/office/powerpoint/2010/main" val="32935646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A8BE4FCE-82E8-AC87-5923-BE895203B0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CF493B30-5BED-41A8-DD17-C99D167493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6</a:t>
            </a:fld>
          </a:p>
        </p:txBody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9eedad5e34dc2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4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3E164BD6-BBD1-1498-9A9E-E241089C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Complément Alimentaire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D06BAE-5527-4081-BEA8-5939F5DB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COMPLÉMENTS ALIMENTAIRES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6C6C6E-4CF5-403D-ABDF-B4FF432B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Un complément alimentaire n’est jamais un produit anodin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5CE3F9-AC77-44EA-8D83-C74E8B70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200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2B55"/>
                </a:solidFill>
              </a:defRPr>
            </a:pPr>
            <a:r>
              <a:rPr sz="1950" b="1">
                <a:solidFill>
                  <a:srgbClr val="082B55"/>
                </a:solidFill>
              </a:rPr>
              <a:t>Il complète l’alimentation, mais ne remplace ni une alimentation variée ni un avis professionnel.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69434E-976E-4C78-95D5-777BAF0D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905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CE5E6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B22E1A-4FCB-4FF7-80A2-857F4B72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670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313B"/>
                </a:solidFill>
              </a:defRPr>
            </a:pPr>
            <a:r>
              <a:rPr sz="1800" b="1">
                <a:solidFill>
                  <a:srgbClr val="E4313B"/>
                </a:solidFill>
              </a:rPr>
              <a:t>CONTAMINATION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2C9857-A2FC-46FB-B147-3A4166AD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2956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2B55"/>
                </a:solidFill>
              </a:defRPr>
            </a:pPr>
            <a:r>
              <a:rPr sz="1575" b="0">
                <a:solidFill>
                  <a:srgbClr val="082B55"/>
                </a:solidFill>
              </a:rPr>
              <a:t>Une substance interdite peut être présente sans apparaître clairement.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4F5F2C-A581-49C6-B8AD-31F8744B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3905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44654A2-26B2-4431-A576-7CC261CB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313B"/>
                </a:solidFill>
              </a:defRPr>
            </a:pPr>
            <a:r>
              <a:rPr sz="1800" b="1">
                <a:solidFill>
                  <a:srgbClr val="E4313B"/>
                </a:solidFill>
              </a:rPr>
              <a:t>ÉTIQUETAGE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6C95D4-89B9-4C15-A87F-094D9BC9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33800"/>
            <a:ext cx="32956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2B55"/>
                </a:solidFill>
              </a:defRPr>
            </a:pPr>
            <a:r>
              <a:rPr sz="1575" b="0">
                <a:solidFill>
                  <a:srgbClr val="082B55"/>
                </a:solidFill>
              </a:rPr>
              <a:t>La mention « naturel » ne garantit ni l’efficacité ni la sécurité.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4342D38-BE00-4FB6-A5CB-EAB1D984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3905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B29442-9EFD-4854-BF74-98FEC1BA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670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313B"/>
                </a:solidFill>
              </a:defRPr>
            </a:pPr>
            <a:r>
              <a:rPr sz="1800" b="1">
                <a:solidFill>
                  <a:srgbClr val="E4313B"/>
                </a:solidFill>
              </a:rPr>
              <a:t>RESPONSABILITÉ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D0F57A-6A34-42A0-8703-45EC35B3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32956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2B55"/>
                </a:solidFill>
              </a:defRPr>
            </a:pPr>
            <a:r>
              <a:rPr sz="1575" b="0">
                <a:solidFill>
                  <a:srgbClr val="082B55"/>
                </a:solidFill>
              </a:rPr>
              <a:t>Ce qui entre dans mon organisme reste sous ma responsabilité.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412275-3961-46AF-880F-467F8F2F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Premier réflexe : ai-je réellement besoin de ce produit ?</a:t>
            </a:r>
          </a:p>
        </p:txBody>
      </p:sp>
    </p:spTree>
    <p:extLst>
      <p:ext uri="{BB962C8B-B14F-4D97-AF65-F5344CB8AC3E}">
        <p14:creationId xmlns:p14="http://schemas.microsoft.com/office/powerpoint/2010/main" val="13560678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C823C877-F10F-F674-427B-6B60DCEC19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F8FE4E26-9ED5-7B2E-8CC8-D589D243F4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12</a:t>
            </a:fld>
          </a:p>
        </p:txBody>
      </p:sp>
      <p:pic>
        <p:nvPicPr>
          <p:cNvPr id="6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700787e094c0f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4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C675F370-80B0-A7D7-71D4-80044659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Complément Alimentaire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5DBBDC-96D6-4868-B26A-12109C5F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COMPLÉMENTS ALIMENTAIRES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E6C998-4821-4E72-A868-9B889960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Avant d’acheter ou de consommer : quatre vérifications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E87E2C-54F1-42AC-83E8-17261FFD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1CA9A4-B3ED-4DD5-ABAC-B49A526C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C40F00-BAE4-4075-BC52-2199D73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335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B55"/>
                </a:solidFill>
              </a:defRPr>
            </a:pPr>
            <a:r>
              <a:rPr sz="1725" b="1">
                <a:solidFill>
                  <a:srgbClr val="082B55"/>
                </a:solidFill>
              </a:rPr>
              <a:t>QUESTIONNER LE BESOIN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65AB6B-5F51-421F-8ADC-597AD5ED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1932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67A"/>
                </a:solidFill>
              </a:defRPr>
            </a:pPr>
            <a:r>
              <a:rPr sz="1500" b="0">
                <a:solidFill>
                  <a:srgbClr val="52667A"/>
                </a:solidFill>
              </a:rPr>
              <a:t>Sommeil, alimentation ou récupération peuvent-ils répondre au problème ?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36D970-9FE6-49FA-9D1B-B0D00F0C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62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3B4AF7-7801-4AE4-838E-0B7E6B8C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62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31A09D-6759-4D16-AFAA-93FCAFA1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335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B55"/>
                </a:solidFill>
              </a:defRPr>
            </a:pPr>
            <a:r>
              <a:rPr sz="1725" b="1">
                <a:solidFill>
                  <a:srgbClr val="082B55"/>
                </a:solidFill>
              </a:rPr>
              <a:t>DEMANDER CONSEIL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F2EB9E-8026-4971-ACD4-918376A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1932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67A"/>
                </a:solidFill>
              </a:defRPr>
            </a:pPr>
            <a:r>
              <a:rPr sz="1500" b="0">
                <a:solidFill>
                  <a:srgbClr val="52667A"/>
                </a:solidFill>
              </a:rPr>
              <a:t>Échanger avec un professionnel de santé qui connaît le sport.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83CD9E-99A5-4F01-A6E1-91780CC5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413AAB-852F-4839-93F4-1E78D708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5FE2CA-FE75-43C6-BEE2-02E7EC1A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338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B55"/>
                </a:solidFill>
              </a:defRPr>
            </a:pPr>
            <a:r>
              <a:rPr sz="1725" b="1">
                <a:solidFill>
                  <a:srgbClr val="082B55"/>
                </a:solidFill>
              </a:rPr>
              <a:t>RÉDUIRE LE RISQUE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BA7726-32A9-49F9-A332-7775A4F1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67A"/>
                </a:solidFill>
              </a:defRPr>
            </a:pPr>
            <a:r>
              <a:rPr sz="1500" b="0">
                <a:solidFill>
                  <a:srgbClr val="52667A"/>
                </a:solidFill>
              </a:rPr>
              <a:t>Privilégier un produit conforme à la norme NF EN 17444.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67B3B9-B19E-4167-8A15-41F9B049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623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48A63E-231A-4A8A-A434-4B2A16C5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623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F0B5D0-AFAC-4837-A2FA-024B7ADC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338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B55"/>
                </a:solidFill>
              </a:defRPr>
            </a:pPr>
            <a:r>
              <a:rPr sz="1725" b="1">
                <a:solidFill>
                  <a:srgbClr val="082B55"/>
                </a:solidFill>
              </a:rPr>
              <a:t>GARDER UNE TRACE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D27F97-1F3D-4A24-9AE9-097BFDC1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1957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67A"/>
                </a:solidFill>
              </a:defRPr>
            </a:pPr>
            <a:r>
              <a:rPr sz="1500" b="0">
                <a:solidFill>
                  <a:srgbClr val="52667A"/>
                </a:solidFill>
              </a:rPr>
              <a:t>Photographier l’étiquette et le lot, puis conserver le contenant.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E0E7A1-1189-4837-AE17-163E3512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La norme réduit le risque de contamination, mais ne garantit jamais un risque zéro.</a:t>
            </a:r>
          </a:p>
        </p:txBody>
      </p:sp>
    </p:spTree>
    <p:extLst>
      <p:ext uri="{BB962C8B-B14F-4D97-AF65-F5344CB8AC3E}">
        <p14:creationId xmlns:p14="http://schemas.microsoft.com/office/powerpoint/2010/main" val="25321148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5DBCAF9C-93B3-FB9A-9A39-BF8B638362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BE332691-0BDD-6F40-84FE-D3288F7069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14</a:t>
            </a:fld>
          </a:p>
        </p:txBody>
      </p:sp>
      <p:pic>
        <p:nvPicPr>
          <p:cNvPr id="9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cbedc7fa94308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9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E114E160-4424-33EC-7A5B-BC98B0D2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Les AUT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1406D8C-1DCD-4E9B-8D7A-573001D4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MÉDICAMENTS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4D38CD-FAD1-4174-A955-A51C309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Avant tout médicament : informer, vérifier, conserver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6944A2A-0930-49A8-B613-9EFFA627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8576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8279F6E-9BD1-4F8F-838B-A4E9E701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4E490E-67EE-4A4A-B148-420B09C5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2CB16A5-27DA-4E42-889A-0B001049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B55"/>
                </a:solidFill>
              </a:defRPr>
            </a:pPr>
            <a:r>
              <a:rPr sz="1875" b="1">
                <a:solidFill>
                  <a:srgbClr val="082B55"/>
                </a:solidFill>
              </a:rPr>
              <a:t>INFORMER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87A3DD9-31B5-4163-B7DD-BCC18F7E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2B55"/>
                </a:solidFill>
              </a:defRPr>
            </a:pPr>
            <a:r>
              <a:rPr sz="1575" b="0">
                <a:solidFill>
                  <a:srgbClr val="082B55"/>
                </a:solidFill>
              </a:rPr>
              <a:t>Je précise au professionnel de santé que je suis sportif soumis aux règles antidopage.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7AB497D-5C54-4AEF-BE8E-7702C477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38576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EF52649-98C5-49EF-BCFA-7E21F9D7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28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0">
            <a:solidFill>
              <a:srgbClr val="00A7B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AE68424-1947-42F9-8A3E-E55B224B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28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3121C8-FD70-474B-A01E-63E4A030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B55"/>
                </a:solidFill>
              </a:defRPr>
            </a:pPr>
            <a:r>
              <a:rPr sz="1875" b="1">
                <a:solidFill>
                  <a:srgbClr val="082B55"/>
                </a:solidFill>
              </a:rPr>
              <a:t>VÉRIFIER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A7AAF0A-0273-4066-8FDF-8A56B639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9087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2B55"/>
                </a:solidFill>
              </a:defRPr>
            </a:pPr>
            <a:r>
              <a:rPr sz="1575" b="0">
                <a:solidFill>
                  <a:srgbClr val="082B55"/>
                </a:solidFill>
              </a:rPr>
              <a:t>Je recherche le médicament sur medicament.afld.fr ou je demande conseil.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8223635-4062-4607-8D16-AD96F0B8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38576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CE5E6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60B862F-49B9-49D2-A66B-5B672BD0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28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13B"/>
          </a:solidFill>
          <a:ln xmlns:a="http://schemas.openxmlformats.org/drawingml/2006/main" w="0">
            <a:solidFill>
              <a:srgbClr val="E4313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58C747B-9BE2-47D6-9928-BF4672E6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288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8B7F802-CAC0-48A5-A756-BB11D397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B55"/>
                </a:solidFill>
              </a:defRPr>
            </a:pPr>
            <a:r>
              <a:rPr sz="1875" b="1">
                <a:solidFill>
                  <a:srgbClr val="082B55"/>
                </a:solidFill>
              </a:rPr>
              <a:t>CONSERVER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571A648-A5A6-492E-9CF7-FB643F1D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328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2B55"/>
                </a:solidFill>
              </a:defRPr>
            </a:pPr>
            <a:r>
              <a:rPr sz="1575" b="0">
                <a:solidFill>
                  <a:srgbClr val="082B55"/>
                </a:solidFill>
              </a:rPr>
              <a:t>Je garde l’ordonnance et les documents utiles liés au traitement.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F4CDC1A-0D56-4316-8F3F-2BAFAEC2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Un médicament autorisé par ordonnance n’est pas automatiquement autorisé en antidopage.</a:t>
            </a:r>
          </a:p>
        </p:txBody>
      </p:sp>
    </p:spTree>
    <p:extLst>
      <p:ext uri="{BB962C8B-B14F-4D97-AF65-F5344CB8AC3E}">
        <p14:creationId xmlns:p14="http://schemas.microsoft.com/office/powerpoint/2010/main" val="26221744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F4B72C92-3FEC-6389-9AA4-1431F81D88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0528AAE4-95E0-9BD2-3E4C-E4498FFDB8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17</a:t>
            </a:fld>
          </a:p>
        </p:txBody>
      </p:sp>
      <p:pic>
        <p:nvPicPr>
          <p:cNvPr id="7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9af58ffde462f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5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419300CE-06E7-6760-734E-4920A631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Les AUT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BF0F15-8885-4F07-8ECD-4ED9F812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AUTORISATION D’USAGE À DES FINS THÉRAPEUTIQUES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6CB536-5A0D-46DA-B790-0F845A26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L’AUT permet un traitement interdit lorsque quatre critères sont réunis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E6DD40-9CD6-4330-B5B3-9387A08D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953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2F302D-3496-464C-AD4A-FF019A49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24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2B0205-AFEB-4F6B-9AC8-3137CBE7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240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74684C-80D9-40EE-B3E0-E833E7CC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BESOIN MÉDICAL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CDBF41-A351-4376-95F2-6A0A1D59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</a:defRPr>
            </a:pPr>
            <a:r>
              <a:rPr sz="1350" b="0">
                <a:solidFill>
                  <a:srgbClr val="52667A"/>
                </a:solidFill>
              </a:rPr>
              <a:t>L’absence de traitement aurait un impact significatif sur la santé.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C52085-7ECC-442F-B3AF-825D81A2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14500"/>
            <a:ext cx="5953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41D486-88F0-46BE-84B7-4550B64F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24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EF0D10-EB93-4FE2-91C7-E5D39D73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240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6D4EAF-498D-4486-9232-E6D20133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28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RETOUR À LA NORMALE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C6F9F1-3486-4AB7-B9D0-8CF144AE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</a:defRPr>
            </a:pPr>
            <a:r>
              <a:rPr sz="1350" b="0">
                <a:solidFill>
                  <a:srgbClr val="52667A"/>
                </a:solidFill>
              </a:rPr>
              <a:t>Le traitement ne procure pas d’amélioration au-delà du retour à l’état normal.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4E99D6-F86C-41EB-A7A3-645A94FD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5953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1373D5-22DF-4D6A-9155-499220BC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9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13B"/>
          </a:solidFill>
          <a:ln xmlns:a="http://schemas.openxmlformats.org/drawingml/2006/main" w="0">
            <a:solidFill>
              <a:srgbClr val="E4313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BFAFA2-73DA-400A-9897-1C4F803B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95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C74BAE-B309-42D6-8D8C-0836280C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PAS D’ALTERNATIVE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805A0A-3900-4760-8C9E-6274B56F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</a:defRPr>
            </a:pPr>
            <a:r>
              <a:rPr sz="1350" b="0">
                <a:solidFill>
                  <a:srgbClr val="52667A"/>
                </a:solidFill>
              </a:rPr>
              <a:t>Aucun traitement autorisé raisonnable ne peut être utilisé.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BB9760-F6D8-414E-B48E-3BA307C7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10000"/>
            <a:ext cx="5953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549B8D-BD31-42B7-9613-4D595A05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19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13B"/>
          </a:solidFill>
          <a:ln xmlns:a="http://schemas.openxmlformats.org/drawingml/2006/main" w="0">
            <a:solidFill>
              <a:srgbClr val="E4313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70A84D-5771-4DB8-96E3-2B4370CA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195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0C8155-E2DC-43E2-8F1D-8DC2FB3A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24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CAUSE INDÉPENDANTE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10E3E0-B2B4-429C-92D7-06A02117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</a:defRPr>
            </a:pPr>
            <a:r>
              <a:rPr sz="1350" b="0">
                <a:solidFill>
                  <a:srgbClr val="52667A"/>
                </a:solidFill>
              </a:rPr>
              <a:t>Le besoin n’est pas la conséquence d’un usage antérieur interdit.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90EB79-A2AD-4DF9-B823-6FAD26DF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En principe, la demande est faite avant l’utilisation ; certaines situations permettent une demande rétroactive.</a:t>
            </a:r>
          </a:p>
        </p:txBody>
      </p:sp>
    </p:spTree>
    <p:extLst>
      <p:ext uri="{BB962C8B-B14F-4D97-AF65-F5344CB8AC3E}">
        <p14:creationId xmlns:p14="http://schemas.microsoft.com/office/powerpoint/2010/main" val="34704390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9CED8FA7-B5D0-AD47-7328-E57597B73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64D1ADBC-59E2-F933-237B-443C54AC4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19</a:t>
            </a:fld>
          </a:p>
        </p:txBody>
      </p:sp>
      <p:pic>
        <p:nvPicPr>
          <p:cNvPr id="4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9fd6c596a47f0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5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81DB1F5A-1B90-C2DA-345B-58DE877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Les AUT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570D4-6845-4719-82AA-0D55E687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SYNTHÈSE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EB49F-94CF-45C9-86F2-2B91144D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Trois réflexes à retenir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85775E-8441-4003-842F-0D31AA3B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3905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4288">
            <a:solidFill>
              <a:srgbClr val="0066B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3531C5-8AA7-45CE-B9E5-28CD4CDD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66B3"/>
                </a:solidFill>
              </a:defRPr>
            </a:pPr>
            <a:r>
              <a:rPr sz="1875" b="1">
                <a:solidFill>
                  <a:srgbClr val="0066B3"/>
                </a:solidFill>
              </a:rPr>
              <a:t>CONTRÔLE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8F27CA-9C44-4726-A176-F11A3B37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Je coopère, je vérifie les informations et je pose mes questions.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DDA4EF-BCC6-487A-82F6-9F2DDD6D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00250"/>
            <a:ext cx="3905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14288">
            <a:solidFill>
              <a:srgbClr val="00A7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04EC62-FCEA-4E01-9E75-C268867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383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A7B5"/>
                </a:solidFill>
              </a:defRPr>
            </a:pPr>
            <a:r>
              <a:rPr sz="1875" b="1">
                <a:solidFill>
                  <a:srgbClr val="00A7B5"/>
                </a:solidFill>
              </a:rPr>
              <a:t>COMPLÉMENTS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47233B-7012-4F08-8060-D05AD526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480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Je questionne le besoin, je demande conseil et je garde une trace.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6E3FA2-C52D-4B27-BA67-4B4E7086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0250"/>
            <a:ext cx="3905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CE5E6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5E9352-0B07-4781-9270-D7F247EF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383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4313B"/>
                </a:solidFill>
              </a:defRPr>
            </a:pPr>
            <a:r>
              <a:rPr sz="1875" b="1">
                <a:solidFill>
                  <a:srgbClr val="E4313B"/>
                </a:solidFill>
              </a:rPr>
              <a:t>MÉDICAMENTS / AUT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FE114B-55EC-4174-B994-6AA234CD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J’informe, je vérifie avant la prise et j’anticipe les démarches.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BEE598-3456-4F7F-B975-C091F001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Le bon réflexe commun : ne pas rester seul face au doute.</a:t>
            </a:r>
          </a:p>
        </p:txBody>
      </p:sp>
    </p:spTree>
    <p:extLst>
      <p:ext uri="{BB962C8B-B14F-4D97-AF65-F5344CB8AC3E}">
        <p14:creationId xmlns:p14="http://schemas.microsoft.com/office/powerpoint/2010/main" val="33659283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9CED8FA7-B5D0-AD47-7328-E57597B73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64D1ADBC-59E2-F933-237B-443C54AC4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19</a:t>
            </a:fld>
          </a:p>
        </p:txBody>
      </p:sp>
      <p:pic>
        <p:nvPicPr>
          <p:cNvPr id="4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f4a43760341f0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5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81DB1F5A-1B90-C2DA-345B-58DE877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Les AUT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AD421-2DC6-43DE-AB23-BC1518F4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À VOUS DE JOUER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BF0794-7E3D-406D-808C-94144045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Mini-activité : faut-il penser à une AUT 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C8C1AA-FC34-4CE5-A3CC-D4BA9446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209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ACDDD4-48D6-43B4-910C-1F2E2BB1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13B"/>
          </a:solidFill>
          <a:ln xmlns:a="http://schemas.openxmlformats.org/drawingml/2006/main" w="0">
            <a:solidFill>
              <a:srgbClr val="E431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EDC186-302C-4870-8B45-5BA7D391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4106CD-E3A7-4A5D-A898-2DE28066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B55"/>
                </a:solidFill>
              </a:defRPr>
            </a:pPr>
            <a:r>
              <a:rPr sz="1425" b="1">
                <a:solidFill>
                  <a:srgbClr val="082B55"/>
                </a:solidFill>
              </a:rPr>
              <a:t>Un sportif reçoit un traitement contenant une substance interdite et aucune alternative n’est possible.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0A00A1-79AD-44BE-9787-B77C12E5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62125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313B"/>
                </a:solidFill>
              </a:defRPr>
            </a:pPr>
            <a:r>
              <a:rPr sz="1350" b="1">
                <a:solidFill>
                  <a:srgbClr val="E4313B"/>
                </a:solidFill>
              </a:rPr>
              <a:t>OUI — Contacter rapidement un professionnel et vérifier la démarche d’AUT.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95268C-189A-4A72-BC59-C263591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209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B2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7C83F-2F04-4673-8083-E49183E0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B255"/>
          </a:solidFill>
          <a:ln xmlns:a="http://schemas.openxmlformats.org/drawingml/2006/main" w="0">
            <a:solidFill>
              <a:srgbClr val="77B2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0FF944-9096-4B96-8E89-69039363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04C0D7-2CDC-4057-960C-AAEFE00B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B55"/>
                </a:solidFill>
              </a:defRPr>
            </a:pPr>
            <a:r>
              <a:rPr sz="1425" b="1">
                <a:solidFill>
                  <a:srgbClr val="082B55"/>
                </a:solidFill>
              </a:rPr>
              <a:t>Un médicament est vérifié comme autorisé dans la situation concernée.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F7182C-F2DA-457E-A2EB-A3C2A780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385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B255"/>
                </a:solidFill>
              </a:defRPr>
            </a:pPr>
            <a:r>
              <a:rPr sz="1350" b="1">
                <a:solidFill>
                  <a:srgbClr val="77B255"/>
                </a:solidFill>
              </a:rPr>
              <a:t>NON — Pas d’AUT, mais respecter la prescription et garder les justificatifs.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45F7B6-B0FE-498A-BE92-E5312EBD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2096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C8222A-4AE4-491A-8709-BEDADAC4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13B"/>
          </a:solidFill>
          <a:ln xmlns:a="http://schemas.openxmlformats.org/drawingml/2006/main" w="0">
            <a:solidFill>
              <a:srgbClr val="E431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0031E6-29B2-4460-AFA1-33671CE1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222EB2-2DD6-4809-86D5-55AACA94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1487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B55"/>
                </a:solidFill>
              </a:defRPr>
            </a:pPr>
            <a:r>
              <a:rPr sz="1425" b="1">
                <a:solidFill>
                  <a:srgbClr val="082B55"/>
                </a:solidFill>
              </a:rPr>
              <a:t>Une urgence médicale impose un traitement avant que le dossier puisse être constitué.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E8EB02-5112-43D5-8210-1762B0D1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14875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313B"/>
                </a:solidFill>
              </a:defRPr>
            </a:pPr>
            <a:r>
              <a:rPr sz="1350" b="1">
                <a:solidFill>
                  <a:srgbClr val="E4313B"/>
                </a:solidFill>
              </a:rPr>
              <a:t>OUI, POSSIBLEMENT RÉTROACTIVE — La santé d’abord, puis documenter et demander conseil.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A50211-EABD-492E-A97B-DCBA92BA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Consigne : décidez en groupe, puis indiquez le premier interlocuteur à contacter.</a:t>
            </a:r>
          </a:p>
        </p:txBody>
      </p:sp>
    </p:spTree>
    <p:extLst>
      <p:ext uri="{BB962C8B-B14F-4D97-AF65-F5344CB8AC3E}">
        <p14:creationId xmlns:p14="http://schemas.microsoft.com/office/powerpoint/2010/main" val="33659283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9CED8FA7-B5D0-AD47-7328-E57597B73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64D1ADBC-59E2-F933-237B-443C54AC4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19</a:t>
            </a:fld>
          </a:p>
        </p:txBody>
      </p:sp>
      <p:pic>
        <p:nvPicPr>
          <p:cNvPr id="4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a31a249db4c1f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5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81DB1F5A-1B90-C2DA-345B-58DE877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Les AUT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850225-D862-48C0-8105-EF802FBE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À VOUS DE JOUER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6A665-C1F1-46F8-B715-FABD789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Mini-activité : stop, vigilance ou bon réflexe 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F3BA86-FD9A-49F0-ACEF-29EE5C17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5953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29C2A8-773F-4FC0-A6D7-F8505BC1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313B"/>
                </a:solidFill>
              </a:defRPr>
            </a:pPr>
            <a:r>
              <a:rPr sz="2100" b="1">
                <a:solidFill>
                  <a:srgbClr val="E4313B"/>
                </a:solidFill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26BB95-BA03-4E1C-B076-B0FF7830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335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5"/>
                </a:solidFill>
              </a:defRPr>
            </a:pPr>
            <a:r>
              <a:rPr sz="1575" b="1">
                <a:solidFill>
                  <a:srgbClr val="082B55"/>
                </a:solidFill>
              </a:rPr>
              <a:t>Un ami me donne une poudre « naturelle » après l’entraînement.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693996-404C-4AAD-8E4F-39D4BDF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62125"/>
            <a:ext cx="5953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B2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AE05E3-4727-45F7-BC05-8F961C29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7B255"/>
                </a:solidFill>
              </a:defRPr>
            </a:pPr>
            <a:r>
              <a:rPr sz="2100" b="1">
                <a:solidFill>
                  <a:srgbClr val="77B255"/>
                </a:solidFill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212D66-4752-4FE7-8C02-CDB048F8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9335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5"/>
                </a:solidFill>
              </a:defRPr>
            </a:pPr>
            <a:r>
              <a:rPr sz="1575" b="1">
                <a:solidFill>
                  <a:srgbClr val="082B55"/>
                </a:solidFill>
              </a:rPr>
              <a:t>Je demande à un médecin du sport si le produit est utile.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2654A1-3B29-4271-BACC-4CBA7C9C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5953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A6BCE3-8D21-4ADA-B662-11888C51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313B"/>
                </a:solidFill>
              </a:defRPr>
            </a:pPr>
            <a:r>
              <a:rPr sz="2100" b="1">
                <a:solidFill>
                  <a:srgbClr val="E4313B"/>
                </a:solidFill>
              </a:rPr>
              <a:t>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103611-44A9-4346-BDA8-19AC2277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862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5"/>
                </a:solidFill>
              </a:defRPr>
            </a:pPr>
            <a:r>
              <a:rPr sz="1575" b="1">
                <a:solidFill>
                  <a:srgbClr val="082B55"/>
                </a:solidFill>
              </a:rPr>
              <a:t>J’achète sur un site étranger car le produit est moins cher.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2FBD08-B11A-4184-9090-383FB94E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14750"/>
            <a:ext cx="5953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B2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8FE139-F032-486B-A50F-E68FC6B9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05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7B255"/>
                </a:solidFill>
              </a:defRPr>
            </a:pPr>
            <a:r>
              <a:rPr sz="2100" b="1">
                <a:solidFill>
                  <a:srgbClr val="77B255"/>
                </a:solidFill>
              </a:rPr>
              <a:t>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C81CAF-BC41-46E9-B76A-6F90F430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8862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5"/>
                </a:solidFill>
              </a:defRPr>
            </a:pPr>
            <a:r>
              <a:rPr sz="1575" b="1">
                <a:solidFill>
                  <a:srgbClr val="082B55"/>
                </a:solidFill>
              </a:rPr>
              <a:t>Je vérifie la norme, la composition et je garde le numéro de lot.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B7CAB9-9EA9-47DB-A6DF-F8223A43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Réponses attendues : A = STOP • B = BON RÉFLEXE • C = STOP • D = BON RÉFLEXE.</a:t>
            </a:r>
          </a:p>
        </p:txBody>
      </p:sp>
    </p:spTree>
    <p:extLst>
      <p:ext uri="{BB962C8B-B14F-4D97-AF65-F5344CB8AC3E}">
        <p14:creationId xmlns:p14="http://schemas.microsoft.com/office/powerpoint/2010/main" val="3365928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9CED8FA7-B5D0-AD47-7328-E57597B73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64D1ADBC-59E2-F933-237B-443C54AC4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19</a:t>
            </a:fld>
          </a:p>
        </p:txBody>
      </p:sp>
      <p:pic>
        <p:nvPicPr>
          <p:cNvPr id="5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c56b4d0234259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5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81DB1F5A-1B90-C2DA-345B-58DE877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Les AUT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8CD6CE-BEFC-4C71-8AF5-2DF1AC91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À VOUS DE JOUER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6275D-A023-40F1-A888-763B9D86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Mini-activité : remettez le contrôle dans le bon ordre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A0F4C5-B837-43E8-BD7C-7A94685E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3857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4288">
            <a:solidFill>
              <a:srgbClr val="0066B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ABF939-8DCC-4EC7-8045-D820C3D4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907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313B"/>
                </a:solidFill>
              </a:defRPr>
            </a:pPr>
            <a:r>
              <a:rPr sz="1800" b="1">
                <a:solidFill>
                  <a:srgbClr val="E4313B"/>
                </a:solidFill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ABED0C-BBBF-485E-8C7E-FC8EB76F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478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Je signe le formulaire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82C366-2ACF-4D41-87CC-CF1C6C8D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57375"/>
            <a:ext cx="3857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14288">
            <a:solidFill>
              <a:srgbClr val="0066B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4152E-3C26-46C4-A213-40589BDC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907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313B"/>
                </a:solidFill>
              </a:defRPr>
            </a:pPr>
            <a:r>
              <a:rPr sz="1800" b="1">
                <a:solidFill>
                  <a:srgbClr val="E4313B"/>
                </a:solidFill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561D12-927B-49FE-9A98-291532AC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Je suis notifié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E127BA-03DE-4BD5-A7CD-044D0D10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57375"/>
            <a:ext cx="3857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4288">
            <a:solidFill>
              <a:srgbClr val="0066B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9E18E6-B97D-4BB7-A07E-6B22DDF7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907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313B"/>
                </a:solidFill>
              </a:defRPr>
            </a:pPr>
            <a:r>
              <a:rPr sz="1800" b="1">
                <a:solidFill>
                  <a:srgbClr val="E4313B"/>
                </a:solidFill>
              </a:rPr>
              <a:t>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860032-D62E-4045-B429-AF86EA36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478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Je choisis le kit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D9736D-8BA6-457D-A574-382C0BB0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3857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14288">
            <a:solidFill>
              <a:srgbClr val="0066B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E3D1B3-450C-4985-90B2-150A90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004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313B"/>
                </a:solidFill>
              </a:defRPr>
            </a:pPr>
            <a:r>
              <a:rPr sz="1800" b="1">
                <a:solidFill>
                  <a:srgbClr val="E4313B"/>
                </a:solidFill>
              </a:rPr>
              <a:t>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90E705-6055-4953-80E9-B8864489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Je fournis l’échantillon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D0DA43-AD07-40EE-820A-A32DF9A5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67125"/>
            <a:ext cx="3857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4288">
            <a:solidFill>
              <a:srgbClr val="0066B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0A6CBD-B067-411A-8D03-71B3AADC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004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313B"/>
                </a:solidFill>
              </a:defRPr>
            </a:pPr>
            <a:r>
              <a:rPr sz="1800" b="1">
                <a:solidFill>
                  <a:srgbClr val="E4313B"/>
                </a:solidFill>
              </a:rPr>
              <a:t>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6BC8F4-D13B-41C0-82B2-A2257180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576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Je me présente au poste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8FD899-0DC0-4806-BF7E-69F6F1BB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67125"/>
            <a:ext cx="3857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14288">
            <a:solidFill>
              <a:srgbClr val="0066B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4DB5A6-188B-4F80-96D5-E88888AA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8004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313B"/>
                </a:solidFill>
              </a:defRPr>
            </a:pPr>
            <a:r>
              <a:rPr sz="1800" b="1">
                <a:solidFill>
                  <a:srgbClr val="E4313B"/>
                </a:solidFill>
              </a:rPr>
              <a:t>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071694-47C2-484D-BFE2-9AE19F53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576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5"/>
                </a:solidFill>
              </a:defRPr>
            </a:pPr>
            <a:r>
              <a:rPr sz="1650" b="1">
                <a:solidFill>
                  <a:srgbClr val="082B55"/>
                </a:solidFill>
              </a:rPr>
              <a:t>Les flacons sont scellés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17EF9A-117E-4785-A13C-B90517DD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Consigne : en binôme, proposez l’ordre puis justifiez une étape. Solution : B → E → C → D → F → A.</a:t>
            </a:r>
          </a:p>
        </p:txBody>
      </p:sp>
    </p:spTree>
    <p:extLst>
      <p:ext uri="{BB962C8B-B14F-4D97-AF65-F5344CB8AC3E}">
        <p14:creationId xmlns:p14="http://schemas.microsoft.com/office/powerpoint/2010/main" val="33659283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9CED8FA7-B5D0-AD47-7328-E57597B73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64D1ADBC-59E2-F933-237B-443C54AC4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19</a:t>
            </a:fld>
          </a:p>
        </p:txBody>
      </p:sp>
      <p:pic>
        <p:nvPicPr>
          <p:cNvPr id="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933151d1043db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5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81DB1F5A-1B90-C2DA-345B-58DE877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Les AUT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BE8A4-E460-4249-89B0-042F4320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PROCÉDURE DE CONTRÔLE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17E00-7782-4CB4-BD47-D5860D81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Pendant le contrôle, le sportif a des droits… et des obligations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A32CC2-C26F-4319-857A-7A7A68A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4288">
            <a:solidFill>
              <a:srgbClr val="0066B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5964D-6BE1-4E8A-A8BF-E907C52B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CE5E6"/>
          </a:solidFill>
          <a:ln xmlns:a="http://schemas.openxmlformats.org/drawingml/2006/main" w="14288">
            <a:solidFill>
              <a:srgbClr val="E431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95A9CE-C933-4DB6-918F-E36D9700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19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6B3"/>
                </a:solidFill>
              </a:defRPr>
            </a:pPr>
            <a:r>
              <a:rPr sz="2100" b="1">
                <a:solidFill>
                  <a:srgbClr val="0066B3"/>
                </a:solidFill>
              </a:rPr>
              <a:t>MES DROITS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8160D9-3E2E-4BE6-A49C-1A17C10B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667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• Être accompagné</a:t>
            </a:r>
          </a:p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• Demander des explications</a:t>
            </a:r>
          </a:p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• Signaler les médicaments et compléments utilisés</a:t>
            </a:r>
          </a:p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• Demander un délai pour un motif valable</a:t>
            </a:r>
          </a:p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• Recevoir une copie du formulaire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DB5FEA-9014-41C5-B636-F92523BA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19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313B"/>
                </a:solidFill>
              </a:defRPr>
            </a:pPr>
            <a:r>
              <a:rPr sz="2100" b="1">
                <a:solidFill>
                  <a:srgbClr val="E4313B"/>
                </a:solidFill>
              </a:rPr>
              <a:t>MES RESPONSABILITÉS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AA5761-DF18-473E-BE50-81D5F5BE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4667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• Rester sous observation</a:t>
            </a:r>
          </a:p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• Présenter une pièce d’identité</a:t>
            </a:r>
          </a:p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• Respecter les consignes de prélèvement</a:t>
            </a:r>
          </a:p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• Vérifier les informations avant de signer</a:t>
            </a:r>
          </a:p>
          <a:p xmlns:a="http://schemas.openxmlformats.org/drawingml/2006/main">
            <a:pPr algn="l">
              <a:defRPr sz="1650" b="0">
                <a:solidFill>
                  <a:srgbClr val="082B55"/>
                </a:solidFill>
              </a:defRPr>
            </a:pPr>
            <a:r>
              <a:rPr sz="1650" b="0">
                <a:solidFill>
                  <a:srgbClr val="082B55"/>
                </a:solidFill>
              </a:rPr>
              <a:t>• Toujours se soumettre au contrôle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03FB87-DB7A-411F-A7DA-28B2F689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En cas de doute : je pose une question à l’agent de contrôle.</a:t>
            </a:r>
          </a:p>
        </p:txBody>
      </p:sp>
    </p:spTree>
    <p:extLst>
      <p:ext uri="{BB962C8B-B14F-4D97-AF65-F5344CB8AC3E}">
        <p14:creationId xmlns:p14="http://schemas.microsoft.com/office/powerpoint/2010/main" val="33659283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9CED8FA7-B5D0-AD47-7328-E57597B73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59" y="7074040"/>
            <a:ext cx="6843869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64D1ADBC-59E2-F933-237B-443C54AC4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19</a:t>
            </a:fld>
          </a:p>
        </p:txBody>
      </p:sp>
      <p:pic>
        <p:nvPicPr>
          <p:cNvPr id="5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4c51d47dd4002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5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81DB1F5A-1B90-C2DA-345B-58DE877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Les AUT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B3D59-F694-4C45-88AC-17B309E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77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313B"/>
                </a:solidFill>
              </a:defRPr>
            </a:pPr>
            <a:r>
              <a:rPr sz="1125" b="1">
                <a:solidFill>
                  <a:srgbClr val="E4313B"/>
                </a:solidFill>
              </a:rPr>
              <a:t>PROCÉDURE DE CONTRÔLE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9EE43F-7AF2-4CCD-A260-6B840B1C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14400"/>
            <a:ext cx="1219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B55"/>
                </a:solidFill>
              </a:defRPr>
            </a:pPr>
            <a:r>
              <a:rPr sz="2625" b="1">
                <a:solidFill>
                  <a:srgbClr val="082B55"/>
                </a:solidFill>
              </a:rPr>
              <a:t>Un contrôle antidopage suit une procédure précise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1EE39-3700-4337-9BE8-F749FBFC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71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385A30-50F8-4B82-A4E6-BF6470F3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71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3C0439-2549-4540-9153-E14B470C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573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B55"/>
                </a:solidFill>
              </a:defRPr>
            </a:pPr>
            <a:r>
              <a:rPr sz="1800" b="1">
                <a:solidFill>
                  <a:srgbClr val="082B55"/>
                </a:solidFill>
              </a:rPr>
              <a:t>Notification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8B2EF-63F1-4D56-ACB5-06C8ABB9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955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</a:defRPr>
            </a:pPr>
            <a:r>
              <a:rPr sz="1350" b="0">
                <a:solidFill>
                  <a:srgbClr val="52667A"/>
                </a:solidFill>
              </a:rPr>
              <a:t>Le sportif est informé et identifié.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25B3E6-2C30-4DC5-B869-0EA4787D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71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74C5D0-9C49-4285-AD60-DB993F86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71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5B1B29-5BB3-499F-ABD6-22A10275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573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B55"/>
                </a:solidFill>
              </a:defRPr>
            </a:pPr>
            <a:r>
              <a:rPr sz="1800" b="1">
                <a:solidFill>
                  <a:srgbClr val="082B55"/>
                </a:solidFill>
              </a:rPr>
              <a:t>Présentation au poste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B44C57-6B63-4D66-A9F4-CF317ACC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955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</a:defRPr>
            </a:pPr>
            <a:r>
              <a:rPr sz="1350" b="0">
                <a:solidFill>
                  <a:srgbClr val="52667A"/>
                </a:solidFill>
              </a:rPr>
              <a:t>Il se présente avec son accompagnant si souhaité.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0D534B-6B4D-4B3E-97B6-57D375A0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71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8CFC91-CF22-49CD-ADA6-064F6092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71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A368BE-C099-4D4F-8B5C-D8CB9B55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8573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B55"/>
                </a:solidFill>
              </a:defRPr>
            </a:pPr>
            <a:r>
              <a:rPr sz="1800" b="1">
                <a:solidFill>
                  <a:srgbClr val="082B55"/>
                </a:solidFill>
              </a:rPr>
              <a:t>Choix du matériel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DE780F-F1FD-49F3-9B1C-26027E5A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955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</a:defRPr>
            </a:pPr>
            <a:r>
              <a:rPr sz="1350" b="0">
                <a:solidFill>
                  <a:srgbClr val="52667A"/>
                </a:solidFill>
              </a:rPr>
              <a:t>Il sélectionne un kit de prélèvement scellé.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DB1ED1-CD42-4581-8D5D-D513FF9A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09C2FD-64EF-433F-9F36-57136450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9CC1D4-5CDC-45D6-98BB-FCC0D5C1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0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B55"/>
                </a:solidFill>
              </a:defRPr>
            </a:pPr>
            <a:r>
              <a:rPr sz="1800" b="1">
                <a:solidFill>
                  <a:srgbClr val="082B55"/>
                </a:solidFill>
              </a:rPr>
              <a:t>Prélèvement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E40E64-8918-4313-967D-0822539C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481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</a:defRPr>
            </a:pPr>
            <a:r>
              <a:rPr sz="1350" b="0">
                <a:solidFill>
                  <a:srgbClr val="52667A"/>
                </a:solidFill>
              </a:rPr>
              <a:t>Urine et/ou sang selon la mission de contrôle.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63D923-B588-46DB-AA8D-8D697C7E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203B43-57D5-47D5-A1C0-1D44820F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CEC014-853B-48BA-87F3-C81A5E3D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10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B55"/>
                </a:solidFill>
              </a:defRPr>
            </a:pPr>
            <a:r>
              <a:rPr sz="1800" b="1">
                <a:solidFill>
                  <a:srgbClr val="082B55"/>
                </a:solidFill>
              </a:rPr>
              <a:t>Répartition &amp; scellage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C5F813-2AD1-4CAD-9427-58720C8F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481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</a:defRPr>
            </a:pPr>
            <a:r>
              <a:rPr sz="1350" b="0">
                <a:solidFill>
                  <a:srgbClr val="52667A"/>
                </a:solidFill>
              </a:rPr>
              <a:t>Les échantillons A et B sont sécurisés.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B75F8C-F5CE-4C93-AF18-72EA2086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24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solidFill>
              <a:srgbClr val="0066B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F6EFD4-825D-4110-A869-FE05AB8A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24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E6494F-596F-4479-B277-05FC3A5B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10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B55"/>
                </a:solidFill>
              </a:defRPr>
            </a:pPr>
            <a:r>
              <a:rPr sz="1800" b="1">
                <a:solidFill>
                  <a:srgbClr val="082B55"/>
                </a:solidFill>
              </a:rPr>
              <a:t>Formulaire &amp; copie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D51F02-6659-4ECD-83EC-FEE46E49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481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</a:defRPr>
            </a:pPr>
            <a:r>
              <a:rPr sz="1350" b="0">
                <a:solidFill>
                  <a:srgbClr val="52667A"/>
                </a:solidFill>
              </a:rPr>
              <a:t>Il vérifie, signe et conserve sa copie.</a:t>
            </a:r>
          </a:p>
        </p:txBody>
      </p:sp>
    </p:spTree>
    <p:extLst>
      <p:ext uri="{BB962C8B-B14F-4D97-AF65-F5344CB8AC3E}">
        <p14:creationId xmlns:p14="http://schemas.microsoft.com/office/powerpoint/2010/main" val="33659283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D845B9B0-74E0-3616-4C7A-4BD850992E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20860" y="7074040"/>
            <a:ext cx="6975528" cy="4856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Thème 2. Substances interdites, compléments alimentaires et règles à connaître</a:t>
            </a:r>
          </a:p>
        </p:txBody>
      </p:sp>
      <p:sp>
        <p:nvSpPr>
          <p:cNvPr id="3" name="Espace réservé du numéro de diapositive 2">
            <a:extLst xmlns:a="http://schemas.openxmlformats.org/drawingml/2006/main">
              <a:ext uri="{FF2B5EF4-FFF2-40B4-BE49-F238E27FC236}">
                <a16:creationId xmlns:a16="http://schemas.microsoft.com/office/drawing/2014/main" id="{5D2C817F-20E0-1CDD-2DAB-FB72F7F226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2B71411-566D-F149-9C4A-28474C36E0E3}" type="slidenum">
              <a:t>21</a:t>
            </a:fld>
          </a:p>
        </p:txBody>
      </p:sp>
      <p:pic>
        <p:nvPicPr>
          <p:cNvPr id="49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7681ea06847a7"/>
          <a:srcRect xmlns:a="http://schemas.openxmlformats.org/drawingml/2006/main" l="16698" t="23503" r="15077" b="22499"/>
          <a:stretch xmlns:a="http://schemas.openxmlformats.org/drawingml/2006/main"/>
        </p:blipFill>
        <p:spPr>
          <a:xfrm xmlns:a="http://schemas.openxmlformats.org/drawingml/2006/main">
            <a:off x="170688" y="31849"/>
            <a:ext cx="885756" cy="453786"/>
          </a:xfrm>
          <a:prstGeom xmlns:a="http://schemas.openxmlformats.org/drawingml/2006/main" prst="rect">
            <a:avLst/>
          </a:prstGeom>
        </p:spPr>
      </p:pic>
      <p:sp>
        <p:nvSpPr>
          <p:cNvPr id="5" name="Espace réservé du pied de page 1">
            <a:extLst xmlns:a="http://schemas.openxmlformats.org/drawingml/2006/main">
              <a:ext uri="{FF2B5EF4-FFF2-40B4-BE49-F238E27FC236}">
                <a16:creationId xmlns:a16="http://schemas.microsoft.com/office/drawing/2014/main" id="{BEC630F0-C61C-749E-AFBC-840DBAA6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0" y="33160"/>
            <a:ext cx="4535924" cy="485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>
              <a:buNone/>
              <a:defRPr sz="16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Conclusion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470140-BD11-4C78-A91D-824F2576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866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82B55"/>
                </a:solidFill>
              </a:defRPr>
            </a:pPr>
            <a:r>
              <a:rPr sz="3000" b="1">
                <a:solidFill>
                  <a:srgbClr val="082B55"/>
                </a:solidFill>
              </a:rPr>
              <a:t>DES QUESTIONS 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16546B-4B28-4973-AD89-02BB007D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66B3"/>
                </a:solidFill>
              </a:defRPr>
            </a:pPr>
            <a:r>
              <a:rPr sz="2025" b="1">
                <a:solidFill>
                  <a:srgbClr val="0066B3"/>
                </a:solidFill>
              </a:rPr>
              <a:t>Revenons ensemble sur les trois situations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809296-FB5C-4A33-99A9-229DADB7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67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67A"/>
                </a:solidFill>
              </a:defRPr>
            </a:pPr>
            <a:r>
              <a:rPr sz="1575" b="0">
                <a:solidFill>
                  <a:srgbClr val="52667A"/>
                </a:solidFill>
              </a:rPr>
              <a:t>Contrôle antidopage  •  Compléments alimentaires  •  Médicaments et AUT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6F363C-A886-495F-8339-B55A319A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</a:defRPr>
            </a:pPr>
            <a:r>
              <a:rPr sz="1275" b="0">
                <a:solidFill>
                  <a:srgbClr val="52667A"/>
                </a:solidFill>
              </a:rPr>
              <a:t>Le doute n’est jamais un problème lorsqu’il conduit à demander conseil.</a:t>
            </a:r>
          </a:p>
        </p:txBody>
      </p:sp>
    </p:spTree>
    <p:extLst>
      <p:ext uri="{BB962C8B-B14F-4D97-AF65-F5344CB8AC3E}">
        <p14:creationId xmlns:p14="http://schemas.microsoft.com/office/powerpoint/2010/main" val="3115130859"/>
      </p:ext>
    </p:extLst>
  </p:cSld>
</p:sld>
</file>

<file path=ppt/theme/theme1.xml><?xml version="1.0" encoding="utf-8"?>
<a:theme xmlns:a="http://schemas.openxmlformats.org/drawingml/2006/main" name="Thème Office">
  <a:themeElements>
    <a:clrScheme name="FFC 1">
      <a:dk1>
        <a:srgbClr val="002B5C"/>
      </a:dk1>
      <a:lt1>
        <a:srgbClr val="FFFFFF"/>
      </a:lt1>
      <a:dk2>
        <a:srgbClr val="014285"/>
      </a:dk2>
      <a:lt2>
        <a:srgbClr val="E7E6E6"/>
      </a:lt2>
      <a:accent1>
        <a:srgbClr val="D7313F"/>
      </a:accent1>
      <a:accent2>
        <a:srgbClr val="01599C"/>
      </a:accent2>
      <a:accent3>
        <a:srgbClr val="014285"/>
      </a:accent3>
      <a:accent4>
        <a:srgbClr val="FFC000"/>
      </a:accent4>
      <a:accent5>
        <a:srgbClr val="5B9BD5"/>
      </a:accent5>
      <a:accent6>
        <a:srgbClr val="70AD47"/>
      </a:accent6>
      <a:hlink>
        <a:srgbClr val="D7313F"/>
      </a:hlink>
      <a:folHlink>
        <a:srgbClr val="8A212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FC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2026-07-24T07:42:58.4810000Z</dcterms:created>
  <dcterms:modified xsi:type="dcterms:W3CDTF">2026-07-24T07:42:58.4810000Z</dcterms:modified>
</coreProperties>
</file>